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IBM Plex Sans Light"/>
      <p:regular r:id="rId23"/>
      <p:bold r:id="rId24"/>
      <p:italic r:id="rId25"/>
      <p:boldItalic r:id="rId26"/>
    </p:embeddedFont>
    <p:embeddedFont>
      <p:font typeface="Saira Condensed SemiBold"/>
      <p:regular r:id="rId27"/>
      <p:bold r:id="rId28"/>
    </p:embeddedFont>
    <p:embeddedFont>
      <p:font typeface="Saira Condensed Light"/>
      <p:regular r:id="rId29"/>
      <p:bold r:id="rId30"/>
    </p:embeddedFont>
    <p:embeddedFont>
      <p:font typeface="IBM Plex Sa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IBMPlexSansLight-bold.fntdata"/><Relationship Id="rId23" Type="http://schemas.openxmlformats.org/officeDocument/2006/relationships/font" Target="fonts/IBMPlexSans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BMPlexSansLight-boldItalic.fntdata"/><Relationship Id="rId25" Type="http://schemas.openxmlformats.org/officeDocument/2006/relationships/font" Target="fonts/IBMPlexSansLight-italic.fntdata"/><Relationship Id="rId28" Type="http://schemas.openxmlformats.org/officeDocument/2006/relationships/font" Target="fonts/SairaCondensedSemiBold-bold.fntdata"/><Relationship Id="rId27" Type="http://schemas.openxmlformats.org/officeDocument/2006/relationships/font" Target="fonts/SairaCondensedSemiBo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airaCondensed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SansSemiBold-regular.fntdata"/><Relationship Id="rId30" Type="http://schemas.openxmlformats.org/officeDocument/2006/relationships/font" Target="fonts/SairaCondensedLight-bold.fntdata"/><Relationship Id="rId11" Type="http://schemas.openxmlformats.org/officeDocument/2006/relationships/slide" Target="slides/slide7.xml"/><Relationship Id="rId33" Type="http://schemas.openxmlformats.org/officeDocument/2006/relationships/font" Target="fonts/IBMPlexSansSemiBold-italic.fntdata"/><Relationship Id="rId10" Type="http://schemas.openxmlformats.org/officeDocument/2006/relationships/slide" Target="slides/slide6.xml"/><Relationship Id="rId32" Type="http://schemas.openxmlformats.org/officeDocument/2006/relationships/font" Target="fonts/IBMPlexSansSemiBol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IBMPlexSansSemiBold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Juan</a:t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2b078996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2b078996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Juan</a:t>
            </a:r>
            <a:endParaRPr/>
          </a:p>
        </p:txBody>
      </p:sp>
      <p:sp>
        <p:nvSpPr>
          <p:cNvPr id="149" name="Google Shape;149;g2d2b078996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2b078996f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2b078996f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Juan</a:t>
            </a:r>
            <a:endParaRPr/>
          </a:p>
        </p:txBody>
      </p:sp>
      <p:sp>
        <p:nvSpPr>
          <p:cNvPr id="158" name="Google Shape;158;g2d2b078996f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2b078996f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2b078996f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Ajay</a:t>
            </a:r>
            <a:endParaRPr/>
          </a:p>
        </p:txBody>
      </p:sp>
      <p:sp>
        <p:nvSpPr>
          <p:cNvPr id="171" name="Google Shape;171;g2d2b078996f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2b078996f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d2b078996f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Ajay</a:t>
            </a:r>
            <a:endParaRPr/>
          </a:p>
        </p:txBody>
      </p:sp>
      <p:sp>
        <p:nvSpPr>
          <p:cNvPr id="182" name="Google Shape;182;g2d2b078996f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9bea45b8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d9bea45b8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Ajay</a:t>
            </a:r>
            <a:endParaRPr/>
          </a:p>
        </p:txBody>
      </p:sp>
      <p:sp>
        <p:nvSpPr>
          <p:cNvPr id="190" name="Google Shape;190;g2d9bea45b8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9bea45b8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9bea45b8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Ajay</a:t>
            </a:r>
            <a:endParaRPr/>
          </a:p>
        </p:txBody>
      </p:sp>
      <p:sp>
        <p:nvSpPr>
          <p:cNvPr id="199" name="Google Shape;199;g2d9bea45b8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0e682cf7d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0e682cf7d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Juan</a:t>
            </a:r>
            <a:endParaRPr/>
          </a:p>
        </p:txBody>
      </p:sp>
      <p:sp>
        <p:nvSpPr>
          <p:cNvPr id="207" name="Google Shape;207;g2a0e682cf7d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9bea45b8f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d9bea45b8f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Juan</a:t>
            </a:r>
            <a:endParaRPr/>
          </a:p>
        </p:txBody>
      </p:sp>
      <p:sp>
        <p:nvSpPr>
          <p:cNvPr id="216" name="Google Shape;216;g2d9bea45b8f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2b078996f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d2b078996f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Ajay</a:t>
            </a:r>
            <a:endParaRPr/>
          </a:p>
        </p:txBody>
      </p:sp>
      <p:sp>
        <p:nvSpPr>
          <p:cNvPr id="225" name="Google Shape;225;g2d2b078996f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9bea45b8f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d9bea45b8f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Juan</a:t>
            </a:r>
            <a:endParaRPr/>
          </a:p>
        </p:txBody>
      </p:sp>
      <p:sp>
        <p:nvSpPr>
          <p:cNvPr id="234" name="Google Shape;234;g2d9bea45b8f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d2b078996f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2b078996f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Ajay</a:t>
            </a:r>
            <a:endParaRPr/>
          </a:p>
        </p:txBody>
      </p:sp>
      <p:sp>
        <p:nvSpPr>
          <p:cNvPr id="243" name="Google Shape;243;g2d2b078996f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9e82f088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d9e82f088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Juan</a:t>
            </a:r>
            <a:endParaRPr/>
          </a:p>
        </p:txBody>
      </p:sp>
      <p:sp>
        <p:nvSpPr>
          <p:cNvPr id="255" name="Google Shape;255;g2d9e82f0882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9bea45b8f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9bea45b8f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2d9bea45b8f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2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type="ctrTitle"/>
          </p:nvPr>
        </p:nvSpPr>
        <p:spPr>
          <a:xfrm>
            <a:off x="4249881" y="2504921"/>
            <a:ext cx="7280733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  <a:defRPr b="0" i="0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4675910" y="5690085"/>
            <a:ext cx="6854708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i="0" sz="18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416209" y="6342033"/>
            <a:ext cx="1114406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tatue of a person riding a horse&#10;&#10;Description automatically generated with medium confidence" id="21" name="Google Shape;21;p3"/>
          <p:cNvPicPr preferRelativeResize="0"/>
          <p:nvPr/>
        </p:nvPicPr>
        <p:blipFill rotWithShape="1">
          <a:blip r:embed="rId2">
            <a:alphaModFix/>
          </a:blip>
          <a:srcRect b="0" l="16253" r="0" t="0"/>
          <a:stretch/>
        </p:blipFill>
        <p:spPr>
          <a:xfrm>
            <a:off x="2" y="0"/>
            <a:ext cx="863634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1" y="0"/>
            <a:ext cx="118935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6324602" y="2504921"/>
            <a:ext cx="5206015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  <a:defRPr b="0" i="0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6616701" y="4591369"/>
            <a:ext cx="4913915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3"/>
          <p:cNvSpPr txBox="1"/>
          <p:nvPr>
            <p:ph idx="2" type="body"/>
          </p:nvPr>
        </p:nvSpPr>
        <p:spPr>
          <a:xfrm>
            <a:off x="6794501" y="5690085"/>
            <a:ext cx="4736115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i="0" sz="18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10406269" y="6342033"/>
            <a:ext cx="1124345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Custom Image">
  <p:cSld name="Title Slide - Custom Imag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103" r="14569" t="0"/>
          <a:stretch/>
        </p:blipFill>
        <p:spPr>
          <a:xfrm>
            <a:off x="-2033456" y="0"/>
            <a:ext cx="1039240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49" y="0"/>
            <a:ext cx="118935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6324602" y="2504921"/>
            <a:ext cx="5206015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  <a:defRPr b="0" i="0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6616701" y="4591369"/>
            <a:ext cx="4913915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10446026" y="6362185"/>
            <a:ext cx="1084590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2" type="body"/>
          </p:nvPr>
        </p:nvSpPr>
        <p:spPr>
          <a:xfrm>
            <a:off x="6794501" y="5690085"/>
            <a:ext cx="4736115" cy="4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i="0" sz="18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912816" y="1325690"/>
            <a:ext cx="4215776" cy="5135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INSTRUCTIONS TO REPLACE IMAGE: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Go to View&gt;Slide Master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Locate this layout and duplicate it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Right-click the orange circle on the far-left side of this image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Scroll to “Change Picture”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Select “From File” (note that your version of PowerPoint may use different menu language)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Select desired image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Resize and crop image as necessary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Make sure image is sent to back (right click on image)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lang="en-US" sz="14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Close slide master and insert a new slide using the new, then delete this text box from your presentation slide.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ody of water with buildings along it&#10;&#10;Description automatically generated with medium confidence"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090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1" y="0"/>
            <a:ext cx="1189355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title"/>
          </p:nvPr>
        </p:nvSpPr>
        <p:spPr>
          <a:xfrm>
            <a:off x="6617373" y="974037"/>
            <a:ext cx="4913243" cy="42543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 Condensed SemiBold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858002" y="5394965"/>
            <a:ext cx="4672615" cy="931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E8F9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E8F9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E8F9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E8F9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8F92"/>
              </a:buClr>
              <a:buSzPts val="1600"/>
              <a:buNone/>
              <a:defRPr sz="1600">
                <a:solidFill>
                  <a:srgbClr val="8E8F9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head and Content">
  <p:cSld name="Title, Subhead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44771" y="2202874"/>
            <a:ext cx="10709031" cy="387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person, crowd, event, several&#10;&#10;Description automatically generated" id="46" name="Google Shape;46;p7"/>
          <p:cNvPicPr preferRelativeResize="0"/>
          <p:nvPr/>
        </p:nvPicPr>
        <p:blipFill rotWithShape="1">
          <a:blip r:embed="rId2">
            <a:alphaModFix/>
          </a:blip>
          <a:srcRect b="0" l="28985" r="0" t="0"/>
          <a:stretch/>
        </p:blipFill>
        <p:spPr>
          <a:xfrm>
            <a:off x="2" y="0"/>
            <a:ext cx="73052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47" name="Google Shape;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/>
        </p:nvSpPr>
        <p:spPr>
          <a:xfrm>
            <a:off x="7284722" y="3144277"/>
            <a:ext cx="424589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rPr>
              <a:t>THANK </a:t>
            </a:r>
            <a:r>
              <a:rPr b="1" i="0" lang="en-US" sz="5400">
                <a:solidFill>
                  <a:schemeClr val="lt1"/>
                </a:solidFill>
                <a:latin typeface="Saira Condensed Light"/>
                <a:ea typeface="Saira Condensed Light"/>
                <a:cs typeface="Saira Condensed Light"/>
                <a:sym typeface="Saira Condensed Light"/>
              </a:rPr>
              <a:t>YOU</a:t>
            </a:r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6096002" y="5170418"/>
            <a:ext cx="54346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Stevens Institute of Technology</a:t>
            </a:r>
            <a:br>
              <a:rPr b="1" lang="en-US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16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1 Castle Point Terrace, Hoboken, NJ 07030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644771" y="1825625"/>
            <a:ext cx="10709031" cy="423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TR"/>
              <a:buChar char="-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NTR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44769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644773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4351622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8058471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 and Subhead">
  <p:cSld name="Three Content and Subhead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644773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3" type="body"/>
          </p:nvPr>
        </p:nvSpPr>
        <p:spPr>
          <a:xfrm>
            <a:off x="4351622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4" type="body"/>
          </p:nvPr>
        </p:nvSpPr>
        <p:spPr>
          <a:xfrm>
            <a:off x="8058471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644526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6400803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3" type="body"/>
          </p:nvPr>
        </p:nvSpPr>
        <p:spPr>
          <a:xfrm>
            <a:off x="644526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4" type="body"/>
          </p:nvPr>
        </p:nvSpPr>
        <p:spPr>
          <a:xfrm>
            <a:off x="6400803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 and subhead">
  <p:cSld name="Four Content and subhead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644526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3" type="body"/>
          </p:nvPr>
        </p:nvSpPr>
        <p:spPr>
          <a:xfrm>
            <a:off x="6400803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4" type="body"/>
          </p:nvPr>
        </p:nvSpPr>
        <p:spPr>
          <a:xfrm>
            <a:off x="644526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5" type="body"/>
          </p:nvPr>
        </p:nvSpPr>
        <p:spPr>
          <a:xfrm>
            <a:off x="6400803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ontent">
  <p:cSld name="Five Conte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2" type="body"/>
          </p:nvPr>
        </p:nvSpPr>
        <p:spPr>
          <a:xfrm>
            <a:off x="5359999" y="2210085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" type="body"/>
          </p:nvPr>
        </p:nvSpPr>
        <p:spPr>
          <a:xfrm>
            <a:off x="8429308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4" type="body"/>
          </p:nvPr>
        </p:nvSpPr>
        <p:spPr>
          <a:xfrm>
            <a:off x="5359999" y="4448439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5" type="body"/>
          </p:nvPr>
        </p:nvSpPr>
        <p:spPr>
          <a:xfrm>
            <a:off x="8429308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ontent and subhead">
  <p:cSld name="Five Content and subhead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3" type="body"/>
          </p:nvPr>
        </p:nvSpPr>
        <p:spPr>
          <a:xfrm>
            <a:off x="5359205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4" type="body"/>
          </p:nvPr>
        </p:nvSpPr>
        <p:spPr>
          <a:xfrm>
            <a:off x="8427720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5" type="body"/>
          </p:nvPr>
        </p:nvSpPr>
        <p:spPr>
          <a:xfrm>
            <a:off x="5359205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6" type="body"/>
          </p:nvPr>
        </p:nvSpPr>
        <p:spPr>
          <a:xfrm>
            <a:off x="8427720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228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, Subhead">
  <p:cSld name="Two Content, Subhead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0" i="0" sz="200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2" type="body"/>
          </p:nvPr>
        </p:nvSpPr>
        <p:spPr>
          <a:xfrm>
            <a:off x="644769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3" type="body"/>
          </p:nvPr>
        </p:nvSpPr>
        <p:spPr>
          <a:xfrm>
            <a:off x="6172200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644772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644772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17"/>
          <p:cNvSpPr txBox="1"/>
          <p:nvPr>
            <p:ph idx="4" type="body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-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-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 rot="5400000">
            <a:off x="3881699" y="-1411302"/>
            <a:ext cx="4235176" cy="10709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 rot="5400000">
            <a:off x="7133433" y="1956597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 rot="5400000">
            <a:off x="1702715" y="-692819"/>
            <a:ext cx="5811839" cy="7927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aira Condensed SemiBold"/>
              <a:buNone/>
              <a:defRPr b="1" i="0" sz="4000" u="none" cap="none" strike="noStrike">
                <a:solidFill>
                  <a:schemeClr val="dk1"/>
                </a:solidFill>
                <a:latin typeface="Saira Condensed SemiBold"/>
                <a:ea typeface="Saira Condensed SemiBold"/>
                <a:cs typeface="Saira Condensed SemiBold"/>
                <a:sym typeface="Sai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44771" y="1825625"/>
            <a:ext cx="10709031" cy="423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b="0" i="0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b="0" i="0" sz="16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TR"/>
              <a:buChar char="-"/>
              <a:defRPr b="0" i="0" sz="1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image" Target="../media/image1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RCEQMKKHVBA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2.jpg"/><Relationship Id="rId5" Type="http://schemas.openxmlformats.org/officeDocument/2006/relationships/hyperlink" Target="https://www.youtube.com/watch?v=tWijmaT-PVY" TargetMode="External"/><Relationship Id="rId6" Type="http://schemas.openxmlformats.org/officeDocument/2006/relationships/hyperlink" Target="https://www.youtube.com/watch?v=HbkDjg3vMk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ctrTitle"/>
          </p:nvPr>
        </p:nvSpPr>
        <p:spPr>
          <a:xfrm>
            <a:off x="4249881" y="2504921"/>
            <a:ext cx="7280733" cy="2061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</a:pPr>
            <a:r>
              <a:rPr lang="en-US"/>
              <a:t>Mithril: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</a:pPr>
            <a:r>
              <a:rPr lang="en-US" sz="3700"/>
              <a:t>Missile and Ballistics </a:t>
            </a:r>
            <a:endParaRPr sz="3700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/>
              <a:buNone/>
            </a:pPr>
            <a:r>
              <a:rPr lang="en-US" sz="3700"/>
              <a:t>Detection System</a:t>
            </a:r>
            <a:endParaRPr sz="3700"/>
          </a:p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Ajay Thakkar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Juan Jimenez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Tomas Esson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Mithril? 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644771" y="1825625"/>
            <a:ext cx="107091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Nodal FMCW Phased Array Radar System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Small radar nodes that can beamsteer electronically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Nodes communicate with each other to actively track</a:t>
            </a:r>
            <a:br>
              <a:rPr lang="en-US"/>
            </a:br>
            <a:r>
              <a:rPr lang="en-US"/>
              <a:t>projectiles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Network is dynamic, number of nodes do not matter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All processing and networking done on edge</a:t>
            </a:r>
            <a:endParaRPr/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3375" y="1399600"/>
            <a:ext cx="5050325" cy="33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FMCW and Phased Array Theory</a:t>
            </a:r>
            <a:endParaRPr/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 rotWithShape="1">
          <a:blip r:embed="rId3">
            <a:alphaModFix/>
          </a:blip>
          <a:srcRect b="0" l="19704" r="0" t="0"/>
          <a:stretch/>
        </p:blipFill>
        <p:spPr>
          <a:xfrm>
            <a:off x="364850" y="1154336"/>
            <a:ext cx="4444875" cy="215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850" y="3313250"/>
            <a:ext cx="4444875" cy="220785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4829750" y="1145425"/>
            <a:ext cx="2985900" cy="4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Frequency Modulated Continuous Wave	(FMCW)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Transmitted wave changes in frequency linearly over time (chirp). 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Received wave takes time to come back, making its signal delayed. 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Difference in frequency between Rx and Tx corresponds to distance and velocity.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8632" y="1168750"/>
            <a:ext cx="3925093" cy="220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27"/>
          <p:cNvCxnSpPr/>
          <p:nvPr/>
        </p:nvCxnSpPr>
        <p:spPr>
          <a:xfrm>
            <a:off x="7835675" y="107375"/>
            <a:ext cx="26400" cy="63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7"/>
          <p:cNvSpPr txBox="1"/>
          <p:nvPr/>
        </p:nvSpPr>
        <p:spPr>
          <a:xfrm>
            <a:off x="8608225" y="3600150"/>
            <a:ext cx="2985900" cy="4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Phased Array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two antennas with different phase (time delay) causes construction and destruction, enabling the resulting wave to be steered.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Theoretical Radar Capability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644771" y="1825625"/>
            <a:ext cx="107091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Noise Figure (Friis Equation): 1.526758125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Noise Floor (Minimum Detectable Power): -103.35 dB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Maximum Range of Radar: ~89 m</a:t>
            </a:r>
            <a:endParaRPr/>
          </a:p>
        </p:txBody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75" y="2205125"/>
            <a:ext cx="6276975" cy="98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75" y="3686350"/>
            <a:ext cx="62769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900" y="4815875"/>
            <a:ext cx="32099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5038" y="683825"/>
            <a:ext cx="6030824" cy="57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586144" y="212400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Electronic Schematic</a:t>
            </a:r>
            <a:endParaRPr/>
          </a:p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662" y="1313611"/>
            <a:ext cx="7958676" cy="508043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5193107" y="844200"/>
            <a:ext cx="16743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Transmitting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075" y="244250"/>
            <a:ext cx="7624651" cy="57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/>
        </p:nvSpPr>
        <p:spPr>
          <a:xfrm>
            <a:off x="7955627" y="385050"/>
            <a:ext cx="12762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Receiving</a:t>
            </a:r>
            <a:endParaRPr b="1"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Design</a:t>
            </a:r>
            <a:endParaRPr/>
          </a:p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p32" title="layo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325" y="1094175"/>
            <a:ext cx="4888549" cy="50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 title="layout3Dfront.png"/>
          <p:cNvPicPr preferRelativeResize="0"/>
          <p:nvPr/>
        </p:nvPicPr>
        <p:blipFill rotWithShape="1">
          <a:blip r:embed="rId4">
            <a:alphaModFix/>
          </a:blip>
          <a:srcRect b="0" l="17308" r="21465" t="0"/>
          <a:stretch/>
        </p:blipFill>
        <p:spPr>
          <a:xfrm>
            <a:off x="6171200" y="1287700"/>
            <a:ext cx="4995024" cy="46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Finished Product</a:t>
            </a:r>
            <a:endParaRPr/>
          </a:p>
        </p:txBody>
      </p:sp>
      <p:sp>
        <p:nvSpPr>
          <p:cNvPr id="219" name="Google Shape;219;p33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p33" title="PCB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75" y="967350"/>
            <a:ext cx="5113226" cy="530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 rotWithShape="1">
          <a:blip r:embed="rId4">
            <a:alphaModFix/>
          </a:blip>
          <a:srcRect b="0" l="0" r="0" t="28946"/>
          <a:stretch/>
        </p:blipFill>
        <p:spPr>
          <a:xfrm>
            <a:off x="6106902" y="967350"/>
            <a:ext cx="5604407" cy="530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Digital Processing: Microprocessor</a:t>
            </a:r>
            <a:endParaRPr/>
          </a:p>
        </p:txBody>
      </p:sp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644771" y="1825625"/>
            <a:ext cx="107091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Handles sampling of signal, ramp voltage, processing,</a:t>
            </a:r>
            <a:br>
              <a:rPr lang="en-US"/>
            </a:br>
            <a:r>
              <a:rPr lang="en-US"/>
              <a:t>phase control, and communication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Uses DMA for UART, ADC, and DAC peripherals to allow</a:t>
            </a:r>
            <a:br>
              <a:rPr lang="en-US"/>
            </a:br>
            <a:r>
              <a:rPr lang="en-US"/>
              <a:t>for parallel processing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Allows for easy changes to sampling rate, </a:t>
            </a:r>
            <a:r>
              <a:rPr lang="en-US"/>
              <a:t>chirp time,</a:t>
            </a:r>
            <a:br>
              <a:rPr lang="en-US"/>
            </a:br>
            <a:r>
              <a:rPr lang="en-US"/>
              <a:t>and chirp frequency</a:t>
            </a:r>
            <a:endParaRPr/>
          </a:p>
        </p:txBody>
      </p:sp>
      <p:sp>
        <p:nvSpPr>
          <p:cNvPr id="229" name="Google Shape;229;p34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673" y="0"/>
            <a:ext cx="4828325" cy="60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Mesh Network</a:t>
            </a:r>
            <a:endParaRPr/>
          </a:p>
        </p:txBody>
      </p:sp>
      <p:sp>
        <p:nvSpPr>
          <p:cNvPr id="237" name="Google Shape;237;p35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550" y="2031975"/>
            <a:ext cx="9114823" cy="3550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5"/>
          <p:cNvSpPr txBox="1"/>
          <p:nvPr/>
        </p:nvSpPr>
        <p:spPr>
          <a:xfrm>
            <a:off x="7850375" y="1506275"/>
            <a:ext cx="143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4"/>
              </a:rPr>
              <a:t>Mesh Video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644771" y="1825625"/>
            <a:ext cx="107091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6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850" y="1193875"/>
            <a:ext cx="6135144" cy="32283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49" name="Google Shape;249;p36"/>
          <p:cNvPicPr preferRelativeResize="0"/>
          <p:nvPr/>
        </p:nvPicPr>
        <p:blipFill rotWithShape="1">
          <a:blip r:embed="rId4">
            <a:alphaModFix/>
          </a:blip>
          <a:srcRect b="9013" l="0" r="0" t="8675"/>
          <a:stretch/>
        </p:blipFill>
        <p:spPr>
          <a:xfrm rot="-5400000">
            <a:off x="1261413" y="-67538"/>
            <a:ext cx="3228324" cy="57511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50" name="Google Shape;250;p36"/>
          <p:cNvSpPr txBox="1"/>
          <p:nvPr/>
        </p:nvSpPr>
        <p:spPr>
          <a:xfrm>
            <a:off x="1884225" y="4498625"/>
            <a:ext cx="19827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5"/>
              </a:rPr>
              <a:t>Video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1" name="Google Shape;251;p36"/>
          <p:cNvSpPr txBox="1"/>
          <p:nvPr/>
        </p:nvSpPr>
        <p:spPr>
          <a:xfrm>
            <a:off x="6077725" y="4446125"/>
            <a:ext cx="60414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6"/>
              </a:rPr>
              <a:t>Video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644769" y="365125"/>
            <a:ext cx="10710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Issues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644771" y="1825625"/>
            <a:ext cx="10709100" cy="423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With no antennas plugged in, signal is still output	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Leakage signal from VCO which saturates mixer,</a:t>
            </a:r>
            <a:br>
              <a:rPr lang="en-US"/>
            </a:br>
            <a:r>
              <a:rPr lang="en-US"/>
              <a:t>and dilutes return signal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Filtering stage has cutoff frequency of 28 KHz,</a:t>
            </a:r>
            <a:br>
              <a:rPr lang="en-US"/>
            </a:br>
            <a:r>
              <a:rPr lang="en-US"/>
              <a:t>but is located after amplifying stage making it difficult to </a:t>
            </a:r>
            <a:br>
              <a:rPr lang="en-US"/>
            </a:br>
            <a:r>
              <a:rPr lang="en-US"/>
              <a:t>isolate leak</a:t>
            </a:r>
            <a:endParaRPr/>
          </a:p>
        </p:txBody>
      </p:sp>
      <p:sp>
        <p:nvSpPr>
          <p:cNvPr id="259" name="Google Shape;259;p37"/>
          <p:cNvSpPr txBox="1"/>
          <p:nvPr>
            <p:ph idx="12" type="sldNum"/>
          </p:nvPr>
        </p:nvSpPr>
        <p:spPr>
          <a:xfrm>
            <a:off x="9375913" y="627684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0" name="Google Shape;2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375" y="3522300"/>
            <a:ext cx="4889626" cy="338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2383" y="0"/>
            <a:ext cx="4889615" cy="338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evens">
      <a:dk1>
        <a:srgbClr val="363D45"/>
      </a:dk1>
      <a:lt1>
        <a:srgbClr val="FFFFFF"/>
      </a:lt1>
      <a:dk2>
        <a:srgbClr val="00427F"/>
      </a:dk2>
      <a:lt2>
        <a:srgbClr val="E3E5E6"/>
      </a:lt2>
      <a:accent1>
        <a:srgbClr val="A32537"/>
      </a:accent1>
      <a:accent2>
        <a:srgbClr val="4895CF"/>
      </a:accent2>
      <a:accent3>
        <a:srgbClr val="EBC73A"/>
      </a:accent3>
      <a:accent4>
        <a:srgbClr val="E6832E"/>
      </a:accent4>
      <a:accent5>
        <a:srgbClr val="E7F2FB"/>
      </a:accent5>
      <a:accent6>
        <a:srgbClr val="FFF2E8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